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(30 s). Organizador del GDG Santo Domingo, Google.org Gen AI Accelerator. Hoy: qué construye Google para crisis y, sobre todo, lo tocamos con las manos. Pide que escaneen el QR del final desde ya: el notebook tarda ~30 s en instalar.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no es la falta de datos sino la asimetría y el ruido. Todo lo que veremos son piezas de una misma cadena: detectar → predecir → avisar a tiempo y de forma comprensible.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crisisresilience.google — pronósticos de inundación para 2.000 millones de personas en más de 150 países. Otras cifras de la misma página: alertas sísmicas en 95+ países, alianzas de alertas en 90+ países, 10 millones de conexiones diarias con información de crisis (promedio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amenazas, una lógica. Todos estos productos comparten capas: datos de satélite, modelos de IA y un canal de alertas (SOS Alerts / Public Alerts en Search, Maps y Android). Fuentes: crisisresilience.google; research.google (FireSat, boundary tracking).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vista para developers: qué puedo usar yo. En el taller tocamos Observar (Sentinel, AlphaEarth), Predecir (Weather Lab, Flood Hub) y Construir (Gemini, Gemma, Colab, AI Studio).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Pilar 1. El acelerómetro que gira tu pantalla también siente un sismo.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Arquitectura: detección en el borde (on-device) + agregación en la nube. El teléfono no manda la señal cruda, solo un disparo con ubicación gruesa: privacidad y ancho de banda. El servidor confirma cuando muchos teléfonos coinciden, estima magnitud y ubicación, y define a quién alertar.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Science (2025), 'Global earthquake detection and warning using Android phones': alertas en 98 países para M≥4.5, ~60 eventos y 18 millones de alertas al mes; 85 % de quienes recibieron alerta sintieron el sismo; 36 % la recibió antes, 28 % durante y 23 % después de la sacudida.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Pilar 2. Aquí entra la IA de verdad: Flood Hub, WeatherNext y AlphaEarth.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Nature (2024), 'Global prediction of extreme floods in ungauged watersheds'. Un LSTM 'hindcast' lee un año de clima histórico; otro LSTM 'forecast' toma ese estado y 7 días de pronóstico meteorológico. En ríos sin medición logra a 5 días una fiabilidad similar o mejor que la de los sistemas globales actuales en el mismo día. La Flood Forecasting API exige key aprobada y uso no comercial: en el taller uso mi key y comparto una copia.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WeatherNext 2 (Google DeepMind, nov-2025): pronósticos 8× más rápidos, supera a la versión anterior en 99,9 % de variables y plazos, hasta 15 días. Datos en Earth Engine y BigQuery; inferencia en Vertex AI. La imagen: los 50 escenarios del modelo experimental de ciclones de Weather Lab para Melissa, emitidos el 25-oct-2025 (azul), y la trayectoria real del NHC (rojo). Esto lo reproducen en la Pista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DeepMind (mayo 2026): WeatherNext predijo una llegada a Jamaica con fuerza de categoría 5 cinco días antes con 80 % de confianza, casi 100 % tres días antes. Según el informe de verificación del NHC, fue el mejor modelo individual de trayectoria e intensidad de la temporada 2025. Melissa tocó tierra el 28-oct-2025 con 160 nudos (best track NHC), la más fuerte registrada en Jamaica.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 de Google, pero es la materia prima: los satélites Sentinel del programa Copernicus son abiertos. Durante Melissa (25 y 28 de octubre) las imágenes ópticas tenían 100 % de nubes; el radar no. Imagen: Black River el 29-oct-2025, ~30 h tras la llegada a tierra; en celeste, agua nueva respecto al 17-oct (misma órbita). Ojo: el mar picado también da falsos positivos. Pista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AlphaEarth Foundations (Google DeepMind, jul-2025): resume observaciones de muchos sensores en un embedding de 64 dimensiones por píxel de 10 m; más de 1,4 billones de huellas al año; 24 % menos error que los modelos comparados. Imagen: Black River (Jamaica). En rojo, todo lo que 'se parece' al centro del pueblo (similitud &gt; 0,9) — encuentra los asentamientos sin entrenar ningún modelo. Pista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Pilar 3. La mejor predicción del mundo no sirve si no llega y no se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SOS Alerts reúne información de autoridades y la destaca en Search y Maps. Public Alerts recibe alertas oficiales en CAP (Common Alerting Protocol): severidad, urgencia y certeza son campos del estándar. Los límites de incendio se estiman con IA sobre imágenes satelitales (1 km², cada 10–15 min). En el taller, Gemini redacta alertas con esos campos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Gemma 4 Good Challenge (Kaggle + Google DeepMind), ganadores anunciados el 24-ago-2026, 1.600+ proyectos. Acuífero·Vigía ganó el premio Global Resilience: alerta temprana de inundaciones offline que fusiona telemetría, audio de voluntarios y cámaras de río, con rastro de razonamiento auditable. Mensaje: lo que Google hace a escala planetaria, la comunidad lo lleva al borde, donde no hay señal.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Taller (25 min). Todos abren el portal del QR. Recordar: no hace falta proyecto de Google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y B: Google Colab (laptop). C: AI Studio, funciona desde el teléfono. Todas necesitan solo una cuenta de Google. Key de Gemini gratis en aistudio.google.com/apikey, guardada en Secretos de Colab (nunca pegada en una celda).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Lo que vimos es investigación y práctica: las alertas reales las emite una autoridad. Invitar a seguir en el GDG Santo Domingo.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9150" y="1866900"/>
            <a:ext cx="7239000" cy="180975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1E1E1E"/>
                </a:solidFill>
                <a:latin typeface="Google Sans"/>
              </a:rPr>
              <a:t>Código que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1E1E1E"/>
                </a:solidFill>
                <a:latin typeface="Google Sans"/>
              </a:rPr>
              <a:t>salva vidas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" y="3848100"/>
            <a:ext cx="533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Alberto Castillo Aroca</a:t>
            </a:r>
          </a:p>
          <a:p>
            <a:pPr algn="l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Tech Lead en contextos de crisis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47800" y="1143000"/>
            <a:ext cx="38100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75" b="1">
                <a:solidFill>
                  <a:srgbClr val="1E1E1E"/>
                </a:solidFill>
                <a:latin typeface="Google Sans"/>
              </a:rPr>
              <a:t>En una crisis</a:t>
            </a:r>
            <a:r>
              <a:rPr sz="2475" b="0">
                <a:solidFill>
                  <a:srgbClr val="1E1E1E"/>
                </a:solidFill>
                <a:latin typeface="Google Sans"/>
              </a:rPr>
              <a:t> no faltan datos: sobra ruido, y lo que se sabe no llega a quien lo necesita.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m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800" y="32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Flood Hub pronostica 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33500"/>
            <a:ext cx="39624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25" b="0">
                <a:solidFill>
                  <a:srgbClr val="1E1E1E"/>
                </a:solidFill>
                <a:latin typeface="Google Sans Medium"/>
              </a:rPr>
              <a:t>150+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800" y="413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países con pronóstico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Google Crisis Resilience: el mapa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Sismos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Android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Earthquake Alerts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Red de acelerómetros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 teléfonos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Alertas en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98 países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0787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Inundaciones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0787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Flood 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0787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Flood Forecasting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0787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150+ países,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ríos sin estaciones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8200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D427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Ciclones y clima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8200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WeatherNext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 Lab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(ciclones)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8200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Hasta 15 días,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probabilístico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05612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Incendios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05612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Límites de incendio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 Search y Maps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5612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FireSat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(constelación)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5612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Detección de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5×5 m en 20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Las capas que lo sostienen todo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Observar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AlphaEarth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Foundations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Earth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Sentinel / Landsat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(datos abiertos)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0787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Predecir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0787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Modelos LSTM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(Flood Hub)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0787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WeatherNext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0787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Modelos de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ensamble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8200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Avisar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8200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SOS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Public Alerts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(estándar CAP)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8200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Android, Search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y Maps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05612" y="1066800"/>
            <a:ext cx="1947862" cy="400050"/>
          </a:xfrm>
          <a:prstGeom prst="roundRect">
            <a:avLst>
              <a:gd name="adj" fmla="val 50000"/>
            </a:avLst>
          </a:prstGeom>
          <a:solidFill>
            <a:srgbClr val="FFD427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Construir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05612" y="16954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Gemini API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(AI Studio)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5612" y="27241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(modelos abiertos)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5612" y="3752850"/>
            <a:ext cx="1947862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Colab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Telemetría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distribuida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Millones de teléfonos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funcionando como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sismógrafos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Android Earthquake Alerts: cómo funciona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El acelerómetro siente la sacudida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81356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09931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Teléfono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931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Un algoritmo local decide si es sismo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997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5572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Señal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572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Envía solo hora y zona aproximada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2638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1213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Servidor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213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Une miles de señales: epicentro y magnitud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2790" y="2752725"/>
            <a:ext cx="247650" cy="0"/>
          </a:xfrm>
          <a:prstGeom prst="line">
            <a:avLst/>
          </a:prstGeom>
          <a:ln w="19050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8540" y="1428750"/>
            <a:ext cx="1432560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Alerta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8540" y="2038350"/>
            <a:ext cx="1432560" cy="1428750"/>
          </a:xfrm>
          <a:prstGeom prst="roundRect">
            <a:avLst>
              <a:gd name="adj" fmla="val 8000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Llega antes que la onda que más daña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425" y="3905250"/>
            <a:ext cx="838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Funciona porque las ondas viajan a unos km/s y los datos a la velocidad de la luz.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Fuente: Allen et al., Science (julio 2025).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m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800" y="32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recibió la alerta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33500"/>
            <a:ext cx="39624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25" b="0">
                <a:solidFill>
                  <a:srgbClr val="1E1E1E"/>
                </a:solidFill>
                <a:latin typeface="Google Sans Medium"/>
              </a:rPr>
              <a:t>36 %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800" y="413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antes de sentir la sacudida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Modelado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predictivo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Del satélite y la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lluvia, al río y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al huracán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781050"/>
            <a:ext cx="7429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Flood Hub: ríos que avisan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333500"/>
            <a:ext cx="7429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sites.research.google/floods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3550"/>
            <a:ext cx="7239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Dos redes LSTM: el pasado y el pronóstico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Funciona en ríos sin estaciones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Hasta 7 días de anticipación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API pública con lista de espera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to_melis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1050" y="78105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WeatherNext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" y="1428750"/>
            <a:ext cx="3333750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8× más rápido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Mejor en 99,9 % de variables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Hasta 15 días, por hora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Weather Lab: 50 escenarios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2975" y="48387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" b="0">
                <a:solidFill>
                  <a:srgbClr val="1E1E1E"/>
                </a:solidFill>
                <a:latin typeface="Roboto Mono Light"/>
              </a:rPr>
              <a:t>Weather Lab (CC BY 4.0) · NOAA/NHC · Natural Earth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m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4800" y="32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Cinco días antes: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33500"/>
            <a:ext cx="39624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25" b="0">
                <a:solidFill>
                  <a:srgbClr val="1E1E1E"/>
                </a:solidFill>
                <a:latin typeface="Google Sans Medium"/>
              </a:rPr>
              <a:t>80 %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800" y="4133850"/>
            <a:ext cx="44958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2475">
                <a:solidFill>
                  <a:srgbClr val="1E1E1E"/>
                </a:solidFill>
                <a:latin typeface="Google Sans"/>
              </a:rPr>
              <a:t>de confianza en categoría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to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1050" y="78105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Sentinel-1: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" y="1905000"/>
            <a:ext cx="3333750" cy="257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Ve a través de nubes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Funciona de noche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Agua quieta = oscuro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Datos abiertos (Copernicus)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2975" y="48387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" b="0">
                <a:solidFill>
                  <a:srgbClr val="1E1E1E"/>
                </a:solidFill>
                <a:latin typeface="Roboto Mono Light"/>
              </a:rPr>
              <a:t>Copernicus Sentinel-1 (ESA) · Microsoft Planetary Computer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to_alphaear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1050" y="78105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AlphaEarth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" y="1905000"/>
            <a:ext cx="3333750" cy="257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64 números por píxel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Busca sin entrenar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Anual, 2017–2025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025" b="0">
                <a:solidFill>
                  <a:srgbClr val="1E1E1E"/>
                </a:solidFill>
                <a:latin typeface="Google Sans"/>
              </a:rPr>
              <a:t>Abierto y gratuito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2975" y="48387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" b="0">
                <a:solidFill>
                  <a:srgbClr val="1E1E1E"/>
                </a:solidFill>
                <a:latin typeface="Roboto Mono Light"/>
              </a:rPr>
              <a:t>AlphaEarth Foundations (CC BY 4.0) · Source Cooperative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Despliegue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a escala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Cuando la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infraestructura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física colapsa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781050"/>
            <a:ext cx="7429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La última milla: la alerta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28750"/>
            <a:ext cx="7239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SOS Alerts en Search y Maps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Alertas oficiales con estándar CAP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Límites de incendio cada 10–15 min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Si no se entiende en 3 s, no sirve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La comunidad también construye: Gemma 4 Good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Acuífero·Vigía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Alerta de inundación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sin internet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 4 E2B en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Raspberry Pi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Sudamérica ·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Global Resilience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9925" y="10668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PreVillage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925" y="16954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Servicios públicos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por WhatsApp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9925" y="27241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 4 E4B en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Raspberry Pi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9925" y="37528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Nepal ·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premio llama.cpp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6475" y="10668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FFD427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Gilbeot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6475" y="16954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Navegación con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puntos de referencia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6475" y="27241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Gemma 4 E2B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en Android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6475" y="3752850"/>
            <a:ext cx="2667000" cy="838200"/>
          </a:xfrm>
          <a:prstGeom prst="roundRect">
            <a:avLst>
              <a:gd name="adj" fmla="val 13636"/>
            </a:avLst>
          </a:prstGeom>
          <a:solidFill>
            <a:srgbClr val="FFE7A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Personas mayores ·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premio LiteRT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552450"/>
            <a:ext cx="190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75" b="0">
                <a:solidFill>
                  <a:srgbClr val="1E1E1E"/>
                </a:solidFill>
                <a:latin typeface="Roboto Mono Thi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76600" y="1428750"/>
            <a:ext cx="51435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Manos</a:t>
            </a:r>
          </a:p>
          <a:p>
            <a:pPr algn="l">
              <a:lnSpc>
                <a:spcPct val="90000"/>
              </a:lnSpc>
            </a:pPr>
            <a:r>
              <a:rPr sz="4500" b="1">
                <a:solidFill>
                  <a:srgbClr val="1E1E1E"/>
                </a:solidFill>
                <a:latin typeface="Google Sans"/>
              </a:rPr>
              <a:t>a la obra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3505200"/>
            <a:ext cx="304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Elige tu pista: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huracán, satélite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1E1E"/>
                </a:solidFill>
                <a:latin typeface="Roboto Mono Light"/>
              </a:rPr>
              <a:t>o alerta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425" y="28575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0">
                <a:solidFill>
                  <a:srgbClr val="1E1E1E"/>
                </a:solidFill>
                <a:latin typeface="Google Sans"/>
              </a:rPr>
              <a:t>Elige tu pista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375" y="1066800"/>
            <a:ext cx="1987550" cy="400050"/>
          </a:xfrm>
          <a:prstGeom prst="roundRect">
            <a:avLst>
              <a:gd name="adj" fmla="val 50000"/>
            </a:avLst>
          </a:prstGeom>
          <a:solidFill>
            <a:srgbClr val="57CAF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 · Huracán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375" y="16954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Weather Lab: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50 escenarios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27241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Flood Hub: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ríos en alerta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" y="37528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C3ECF6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Gemini: la alerta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0474" y="1066800"/>
            <a:ext cx="1987550" cy="400050"/>
          </a:xfrm>
          <a:prstGeom prst="roundRect">
            <a:avLst>
              <a:gd name="adj" fmla="val 50000"/>
            </a:avLst>
          </a:prstGeom>
          <a:solidFill>
            <a:srgbClr val="5CDB6D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B · Satélite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0474" y="16954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Sentinel-1 y 2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con STAC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0474" y="27241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AlphaEarth: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buscar parecidos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0474" y="37528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CCF6C5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Gemini: la alerta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575" y="1066800"/>
            <a:ext cx="1987550" cy="400050"/>
          </a:xfrm>
          <a:prstGeom prst="roundRect">
            <a:avLst>
              <a:gd name="adj" fmla="val 50000"/>
            </a:avLst>
          </a:prstGeom>
          <a:solidFill>
            <a:srgbClr val="FF7DAF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C · Alerta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27575" y="16954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AI Studio,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sin código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27575" y="27241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Formato CAP</a:t>
            </a:r>
          </a:p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y Gemma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575" y="3752850"/>
            <a:ext cx="1987550" cy="838200"/>
          </a:xfrm>
          <a:prstGeom prst="roundRect">
            <a:avLst>
              <a:gd name="adj" fmla="val 13636"/>
            </a:avLst>
          </a:prstGeom>
          <a:solidFill>
            <a:srgbClr val="F8D8D8"/>
          </a:solidFill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38100" bIns="38100"/>
          <a:lstStyle/>
          <a:p>
            <a:pPr algn="ctr"/>
            <a:r>
              <a:rPr sz="1425">
                <a:solidFill>
                  <a:srgbClr val="1E1E1E"/>
                </a:solidFill>
                <a:latin typeface="Google Sans Medium"/>
              </a:rPr>
              <a:t>Build: tu app</a:t>
            </a:r>
          </a:p>
        </p:txBody>
      </p:sp>
      <p:pic>
        <p:nvPicPr>
          <p:cNvPr id="16" name="Picture 15" descr="qr_port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7550" y="1428750"/>
            <a:ext cx="1714500" cy="17145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77050" y="3276600"/>
            <a:ext cx="2095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1E1E"/>
                </a:solidFill>
                <a:latin typeface="Roboto Mono Light"/>
              </a:rPr>
              <a:t>alcastaro.github.io/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1E1E"/>
                </a:solidFill>
                <a:latin typeface="Roboto Mono Light"/>
              </a:rPr>
              <a:t>codigo-que-salva-vidas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781050"/>
            <a:ext cx="7429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1E1E"/>
                </a:solidFill>
                <a:latin typeface="Google Sans"/>
              </a:rPr>
              <a:t>Llévatelo 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333500"/>
            <a:ext cx="7429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0">
                <a:solidFill>
                  <a:srgbClr val="1E1E1E"/>
                </a:solidFill>
                <a:latin typeface="Roboto Mono Light"/>
              </a:rPr>
              <a:t>Gracias · Código que salva vidas · DevFest Santo Domingo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3550"/>
            <a:ext cx="7239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3850" indent="-323850">
              <a:lnSpc>
                <a:spcPct val="115000"/>
              </a:lnSpc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Notebooks y guía en el portal del QR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Datos abiertos, con su licencia citada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Alertas reales: tu servicio meteorológico</a:t>
            </a:r>
          </a:p>
          <a:p>
            <a:pPr algn="l" marL="323850" indent="-323850">
              <a:lnSpc>
                <a:spcPct val="115000"/>
              </a:lnSpc>
              <a:spcBef>
                <a:spcPts val="975"/>
              </a:spcBef>
              <a:buChar char="•"/>
            </a:pPr>
            <a:r>
              <a:rPr sz="2475" b="0">
                <a:solidFill>
                  <a:srgbClr val="1E1E1E"/>
                </a:solidFill>
                <a:latin typeface="Google Sans"/>
              </a:rPr>
              <a:t>¿Construyes algo? Cuéntaselo al GDG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