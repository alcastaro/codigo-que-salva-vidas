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Presentación (30 s). Organizador del GDG Santo Domingo, Google.org Gen AI Accelerator. Hoy: qué construye Google para crisis y, sobre todo, lo tocamos con las manos. Pide que escaneen el QR desde ya: el notebook tarda ~30 s en instalar.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problema no es la falta de datos sino la asimetría y el ruido. Todo lo que veremos son piezas de una misma cadena: detectar → predecir → avisar a tiempo y de forma comprensible.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Fuente: crisisresilience.google — pronósticos de inundación para 2.000 millones de personas en más de 150 países. Otras cifras de la misma página: alertas sísmicas en 95+ países, alianzas de alertas en 90+ países, 10 millones de conexiones diarias con información de crisis (promedio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portal que reúne todo. 'Nadie debería ser sorprendido por un desastre natural'. Recorrer rápido (20 s): los cinco frentes y las historias de socios (GiveDirectly en Nigeria, WeatherNext y Melissa).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amenazas, una lógica. Todos comparten capas: satélite, modelos de IA y un canal de alertas (SOS Alerts / Public Alerts en Search, Maps y Android). Fuentes: crisisresilience.google; research.google.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vista para developers: qué puedo usar yo. En el taller tocamos Observar (Sentinel, AlphaEarth), Predecir (Weather Lab, Flood Hub) y Construir (Gemini, Gemma, Colab, AI Studio).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Pilar 1. El acelerómetro que gira tu pantalla también siente un sismo.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Arquitectura: detección en el borde (on-device) + agregación en la nube. El teléfono no manda la señal cruda, solo un disparo con ubicación gruesa: privacidad y ancho de banda.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Science (2025): alertas en 98 países para M≥4.5, ~60 eventos y 18 millones de alertas al mes; 85 % de quienes recibieron alerta sintieron el sismo; 36 % la recibió antes, 28 % durante y 23 %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Pilar 2. Aquí entra la IA de verdad: Flood Hub, WeatherNext, AlphaEarth y Earth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Nature (2024), 'Global prediction of extreme floods in ungauged watersheds'. Un LSTM 'hindcast' lee un año de clima; otro LSTM 'forecast' toma ese estado y 7 días de pronóstico meteorológico. La API exige key aprobada y uso no comercial: en el taller uso mi key y comparto una copia.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WeatherNext 2 (Google DeepMind, nov-2025): 8× más rápido, supera a la versión anterior en 99,9 % de variables y plazos, hasta 15 días. Datos en Earth Engine y BigQuery; inferencia en Vertex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Weather Lab (deepmind.google.com/science/weatherlab) ahora pide iniciar sesión, así que la animación está hecha con sus CSV públicos. Cada línea azul es un escenario del modelo experimental de ciclones; la roja, el best track del NHC. Pausa aquí: '¿el abanico contiene la línea roja?'.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DeepMind (mayo 2026): WeatherNext predijo la llegada a Jamaica con fuerza de categoría 5 cinco días antes con 80 % de confianza, casi 100 % tres días antes. Mejor modelo individual de trayectoria e intensidad de 2025 según el NHC. Melissa tocó tierra el 28-oct-2025 con 160 nudos.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de Google, pero es la materia prima. Durante Melissa las imágenes ópticas tenían 100 % de nubes. Black River (Jamaica), misma órbita antes y después; en celeste, agua nueva. Pista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AlphaEarth Foundations (DeepMind, jul-2025): embedding de 64 dimensiones por píxel de 10 m; más de 1,4 billones de huellas al año; 24 % menos error que los modelos comparados. En rojo, todo lo que 'se parece' al centro de Black River (similitud &gt; 0,9): encuentra los asentamientos sin entrenar nada. Pistas B y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Misma proyección de color para todos los años, para que sean comparables. Constanza: agricultura intensiva en un valle de montaña. Las zonas claras a la derecha cambiaron respecto a 2017. Es una señal para revisar, no un diagnóstico de erosión.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 Engine es la plataforma: catálogo de datos + cómputo. Timelapse muestra 1984–2022. El catálogo incluye el Satellite Embedding de AlphaEarth. En el taller no lo usamos para no obligar a crear un proyecto de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Google Earth AI (oct-2025): modelos de Imagery, Population y Environment + un agente de Geospatial Reasoning con Gemini (0,82 de exactitud frente a 0,50 de Gemini 2.5 Pro solo). En Google Earth: 'Ask Google Earth' con Gemini y Classify (experimental), que con ≥3 ejemplos por clase y AlphaEarth clasifica cada 10 m con un Random Forest. Disponibilidad inicial: Google Earth Professional y Google AI Pro en EE. UU.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Earth Genome con Amazon Conservation, la Fundación Moore, Pulitzer Center y organizaciones indígenas. Actualización de agosto 2026: nuevo ensamble de CNN sobre Sentinel-2 en cuadros de 480 m, segmentación con SAM2, datos 2018–2026 T2; 1,149 millones de hectáreas afectadas. Datos en Source Cooperative. Es el modelo de la Pista D: vigilar cambios del suelo y priorizar dónde mirar.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Climate Engine: aplicación de Desert Research Institute y Universidad de Idaho con Google, sobre Earth Engine. Procesa en segundos 30+ años de Landsat y datos climáticos para sequía, uso de agua, agricultura e incendios; resultados descargables y compartibles por enlace. Puente al anuncio del evento del GDG.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Pilar 3. La mejor predicción del mundo no sirve si no llega y no se entiende.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SOS Alerts reúne información de autoridades en Search y Maps. Public Alerts recibe alertas oficiales en CAP (Common Alerting Protocol): severidad, urgencia y certeza son campos del estándar. En el taller, Gemini redacta alertas con esos campos.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Gemma 4 Good Challenge (Kaggle + Google DeepMind), ganadores anunciados el 24-ago-2026, 1.600+ proyectos. Lo que Google hace a escala planetaria, la comunidad lo lleva al borde, donde no hay señal.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Taller (25 min). Todos abren el portal del QR. No hace falta proyecto de Google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idea de Amazon Mining Watch y de Classify, en 25 minutos y para RD. Cambio fuerte en terreno empinado = señal para revisar, no diagnóstico. En Constanza el cambio está sobre todo en el valle (rotación de cultivos); las señales aparecen en el borde de las laderas. Código escrito desde cero para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B y D: Google Colab (laptop). C: AI Studio, funciona desde el teléfono. Key de Gemini gratis en aistudio.google.com/apikey, guardada en Secretos de Colab (nunca pegada en una celda).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Dejar esta diapositiva en pantalla durante el 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Anuncio del evento de Climate Engine del GDG Santo Domingo. ⚠️ El QR apunta de forma provisional a la página del capítulo; cambiar URL_EVENTO_CE en tools/construir_deck.py por el enlace del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Cierre. Lo que vimos es investigación y práctica: las alertas reales las emite una autoridad.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7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8.gi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3.xml"/><Relationship Id="rId4" Type="http://schemas.openxmlformats.org/officeDocument/2006/relationships/image" Target="../media/image9.gi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10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Relationship Id="rId4" Type="http://schemas.openxmlformats.org/officeDocument/2006/relationships/image" Target="../media/image12.gi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8.xml"/><Relationship Id="rId4" Type="http://schemas.openxmlformats.org/officeDocument/2006/relationships/image" Target="../media/image13.gi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Relationship Id="rId4" Type="http://schemas.openxmlformats.org/officeDocument/2006/relationships/image" Target="../media/image14.gi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0.xml"/><Relationship Id="rId4" Type="http://schemas.openxmlformats.org/officeDocument/2006/relationships/image" Target="../media/image15.gi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1.xml"/><Relationship Id="rId4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6.xml"/><Relationship Id="rId4" Type="http://schemas.openxmlformats.org/officeDocument/2006/relationships/image" Target="../media/image18.gi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8.xml"/><Relationship Id="rId4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9.xml"/><Relationship Id="rId4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u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9150" y="1866900"/>
            <a:ext cx="7239000" cy="180975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6000" b="1">
                <a:solidFill>
                  <a:srgbClr val="1E1E1E"/>
                </a:solidFill>
                <a:latin typeface="Google Sans"/>
              </a:rPr>
              <a:t>Código que</a:t>
            </a:r>
          </a:p>
          <a:p>
            <a:pPr algn="l">
              <a:lnSpc>
                <a:spcPct val="90000"/>
              </a:lnSpc>
            </a:pPr>
            <a:r>
              <a:rPr sz="6000" b="1">
                <a:solidFill>
                  <a:srgbClr val="1E1E1E"/>
                </a:solidFill>
                <a:latin typeface="Google Sans"/>
              </a:rPr>
              <a:t>salva vidas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384810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"/>
              </a:rPr>
              <a:t>Alberto Castillo Aroca</a:t>
            </a:r>
          </a:p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"/>
              </a:rPr>
              <a:t>Tech Lead en contextos de crisis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800" y="1143000"/>
            <a:ext cx="38100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75" b="1">
                <a:solidFill>
                  <a:srgbClr val="1E1E1E"/>
                </a:solidFill>
                <a:latin typeface="Google Sans"/>
              </a:rPr>
              <a:t>En una crisis</a:t>
            </a:r>
            <a:r>
              <a:rPr sz="2475" b="0">
                <a:solidFill>
                  <a:srgbClr val="1E1E1E"/>
                </a:solidFill>
                <a:latin typeface="Google Sans"/>
              </a:rPr>
              <a:t> no faltan datos: sobra ruido, y lo que se sabe no llega a quien lo necesita.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m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32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Flood Hub pronostica 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9624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25" b="0">
                <a:solidFill>
                  <a:srgbClr val="1E1E1E"/>
                </a:solidFill>
                <a:latin typeface="Google Sans Medium"/>
              </a:rPr>
              <a:t>150+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413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países con pronóstico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crisisresilience.google</a:t>
            </a:r>
          </a:p>
        </p:txBody>
      </p:sp>
      <p:pic>
        <p:nvPicPr>
          <p:cNvPr id="4" name="Picture 3" descr="crisis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Incendios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Inundaciones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Sismos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Ciclones y clima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Alertas en 90+ países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crisisresilience.google · captura oct-2026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Google Crisis Resilience: el mapa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Sismos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Android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Earthquake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Red de acelerómetros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 teléfonos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Alertas en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98 países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0787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Inundaciones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0787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Flood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0787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Flood Forecasting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0787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150+ países,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ríos sin estaciones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8200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Ciclones y clima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8200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WeatherNext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 Lab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(ciclones)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200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Hasta 15 días,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probabilístico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5612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Incendios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5612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Límites de incendio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 Search y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5612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FireSat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(constelación)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5612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Detección de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5×5 m en 20 min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Las capas que lo sostienen todo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Observar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AlphaEarth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Foundations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Earth Engine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y Google Earth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Sentinel / Landsat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(datos abiertos)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0787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Predecir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0787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Modelos LSTM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(Flood Hub)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0787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WeatherNext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0787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Earth AI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(Gemini)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8200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Avisar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8200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SOS Alerts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Public Alerts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(estándar CAP)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200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Android, Search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y 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5612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Construir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5612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Gemini API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(AI Studio)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5612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(modelos abiertos)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5612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Telemetría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distribuida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Millones de teléfonos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funcionando como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sismógrafos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Android Earthquake Alerts: cómo funciona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El acelerómetro siente la sacudida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81356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09931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Teléfono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9931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Un algoritmo local decide si es sismo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997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5572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Señal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572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Envía solo hora y zona aproximada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2638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1213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Servidor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1213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Une miles de señales: epicentro y magnitud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2790" y="2752725"/>
            <a:ext cx="247650" cy="0"/>
          </a:xfrm>
          <a:prstGeom prst="line">
            <a:avLst/>
          </a:prstGeom>
          <a:ln w="19050">
            <a:solidFill>
              <a:srgbClr val="4285F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368540" y="1428750"/>
            <a:ext cx="1432560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Alerta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8540" y="2038350"/>
            <a:ext cx="1432560" cy="1428750"/>
          </a:xfrm>
          <a:prstGeom prst="roundRect">
            <a:avLst>
              <a:gd name="adj" fmla="val 8000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Llega antes que la onda que más daña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425" y="3905250"/>
            <a:ext cx="838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1E1E1E"/>
                </a:solidFill>
                <a:latin typeface="Roboto Mono Light"/>
              </a:rPr>
              <a:t>Funciona porque las ondas viajan a unos km/s y los datos a la velocidad de la luz.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1E1E1E"/>
                </a:solidFill>
                <a:latin typeface="Roboto Mono Light"/>
              </a:rPr>
              <a:t>Fuente: Allen et al., Science (julio 2025).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m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32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recibió la alerta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9624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25" b="0">
                <a:solidFill>
                  <a:srgbClr val="1E1E1E"/>
                </a:solidFill>
                <a:latin typeface="Google Sans Medium"/>
              </a:rPr>
              <a:t>36 %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413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antes de sentir la sacudida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Modelado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predictivo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Del satélite y la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lluvia, al río y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al huracán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Flood Hub: ríos que avisan</a:t>
            </a:r>
          </a:p>
        </p:txBody>
      </p:sp>
      <p:pic>
        <p:nvPicPr>
          <p:cNvPr id="4" name="Picture 3" descr="floodhu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Dos redes LSTM: pasado y pronóstico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Ríos sin estaciones de medición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Hasta 7 días antes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API con lista de espera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sites.research.google/floods · captura oct-2026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WeatherNext 2</a:t>
            </a:r>
          </a:p>
        </p:txBody>
      </p:sp>
      <p:pic>
        <p:nvPicPr>
          <p:cNvPr id="4" name="Picture 3" descr="weathernext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2821516"/>
          </a:xfrm>
          <a:prstGeom prst="roundRect">
            <a:avLst>
              <a:gd name="adj" fmla="val 6076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8× más rápido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Mejor en 99,9 % de variables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Hasta 15 días, por hora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En Earth Engine, BigQuery y Vertex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3907366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deepmind.google/science/weathernext · captura oct-2026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Melissa: 50 futuros posibles</a:t>
            </a:r>
          </a:p>
        </p:txBody>
      </p:sp>
      <p:pic>
        <p:nvPicPr>
          <p:cNvPr id="4" name="Picture 3" descr="melissa_animad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690937"/>
          </a:xfrm>
          <a:prstGeom prst="roundRect">
            <a:avLst>
              <a:gd name="adj" fmla="val 4645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Weather Lab, emitido el 25-oct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Azul: escenarios del modelo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Rojo: lo que pasó (NHC)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Esto lo haces en la Pista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776787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Weather Lab (CC BY 4.0) · NOAA/NHC · Natural Earth · animación propia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um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04800" y="32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Cinco días antes: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333500"/>
            <a:ext cx="3962400" cy="2476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25" b="0">
                <a:solidFill>
                  <a:srgbClr val="1E1E1E"/>
                </a:solidFill>
                <a:latin typeface="Google Sans Medium"/>
              </a:rPr>
              <a:t>80 %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4133850"/>
            <a:ext cx="44958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2475">
                <a:solidFill>
                  <a:srgbClr val="1E1E1E"/>
                </a:solidFill>
                <a:latin typeface="Google Sans"/>
              </a:rPr>
              <a:t>de confianza en categoría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Sentinel-1: el radar ve bajo las nubes</a:t>
            </a:r>
          </a:p>
        </p:txBody>
      </p:sp>
      <p:pic>
        <p:nvPicPr>
          <p:cNvPr id="4" name="Picture 3" descr="radar_parpadeo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3714750" cy="3714750"/>
          </a:xfrm>
          <a:prstGeom prst="roundRect">
            <a:avLst>
              <a:gd name="adj" fmla="val 4615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333875" y="1047750"/>
            <a:ext cx="44577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Atraviesa nubes, de día y de noche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Agua quieta = oscuro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Antes 17-oct · después 29-oct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Datos abiertos (Copernicus)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800600"/>
            <a:ext cx="37147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Copernicus Sentinel-1 (ESA) · Microsoft Planetary Computer · animación propia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to_alphaear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81050" y="781050"/>
            <a:ext cx="3238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AlphaEarth</a:t>
            </a:r>
          </a:p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" y="1905000"/>
            <a:ext cx="3333750" cy="2571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64 números por píxel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Busca sin entrenar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Anual, 2017–2025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025" b="0">
                <a:solidFill>
                  <a:srgbClr val="1E1E1E"/>
                </a:solidFill>
                <a:latin typeface="Google Sans"/>
              </a:rPr>
              <a:t>Abierto y gratuito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2975" y="4838700"/>
            <a:ext cx="4000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" b="0">
                <a:solidFill>
                  <a:srgbClr val="1E1E1E"/>
                </a:solidFill>
                <a:latin typeface="Roboto Mono Light"/>
              </a:rPr>
              <a:t>AlphaEarth Foundations (CC BY 4.0) · Source Cooperative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AlphaEarth: Constanza, 2017 → 2025</a:t>
            </a:r>
          </a:p>
        </p:txBody>
      </p:sp>
      <p:pic>
        <p:nvPicPr>
          <p:cNvPr id="4" name="Picture 3" descr="alphaearth_constanza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070860"/>
          </a:xfrm>
          <a:prstGeom prst="roundRect">
            <a:avLst>
              <a:gd name="adj" fmla="val 5583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Un color por tipo de terreno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Derecha: cuánto cambió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Cultivos en laderas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Esto lo haces en la Pista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156710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AlphaEarth Foundations (CC BY 4.0) vía Source Cooperative · animación propia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Earth Engine: 40 años de Santo Domingo</a:t>
            </a:r>
          </a:p>
        </p:txBody>
      </p:sp>
      <p:pic>
        <p:nvPicPr>
          <p:cNvPr id="4" name="Picture 3" descr="timelapse_sdq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827058" cy="3714750"/>
          </a:xfrm>
          <a:prstGeom prst="roundRect">
            <a:avLst>
              <a:gd name="adj" fmla="val 4615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446183" y="1047750"/>
            <a:ext cx="2345391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Petabytes de satélite y clima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Análisis en la nube, en minutos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Gratis para uso no comercial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Base de Timelapse y Climate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800600"/>
            <a:ext cx="582705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earthengine.google.com/timelapse · captura oct-2026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Novedades de Google Earth</a:t>
            </a:r>
          </a:p>
        </p:txBody>
      </p:sp>
      <p:pic>
        <p:nvPicPr>
          <p:cNvPr id="4" name="Picture 3" descr="googleearth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083983"/>
          </a:xfrm>
          <a:prstGeom prst="roundRect">
            <a:avLst>
              <a:gd name="adj" fmla="val 5559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Earth AI: imagen, población y entorno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Gemini razona sobre el mapa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Classify: cultivos con AlphaEarth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Pro y AI Pro, primero en EE. UU.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169833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earth.google.com · captura oct-2026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Amazon Mining Watch</a:t>
            </a:r>
          </a:p>
        </p:txBody>
      </p:sp>
      <p:pic>
        <p:nvPicPr>
          <p:cNvPr id="4" name="Picture 3" descr="amw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Minería de oro en 9 países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Redes neuronales sobre Sentinel-2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99 % especificidad, 90 % sensibilidad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Datos abiertos, cada trimestre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amazonminingwatch.org (Earth Genome y aliados) · captura oct-2026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Climate Engine</a:t>
            </a:r>
          </a:p>
        </p:txBody>
      </p:sp>
      <p:pic>
        <p:nvPicPr>
          <p:cNvPr id="4" name="Picture 3" descr="climateeng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Clima y satélite sin código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Corre sobre Earth Engine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Sequía, incendios y cultivos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Web, API e informes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climateengine.org · captura oct-2026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Despliegue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a escala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Cuando la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infraestructura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física colapsa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781050"/>
            <a:ext cx="7429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La última milla: la alerta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28750"/>
            <a:ext cx="7239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SOS Alerts en Search y Maps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Alertas oficiales con estándar CAP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Límites de incendio cada 10–15 min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Si no se entiende en 3 s, no sirve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La comunidad también construye: Gemma 4 Good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Acuífero·Vigía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Alerta de inundación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sin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 4 E2B en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Raspberry Pi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Sudamérica ·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Global Resilience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992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PreVillage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992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Servicios públicos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por WhatsApp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992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 4 E4B en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Raspberry Pi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992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Nepal ·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premio llama.cpp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6475" y="1066800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Gilbeot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6475" y="16954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Navegación con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puntos de referencia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6475" y="27241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Gemma 4 E2B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en Android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6475" y="3752850"/>
            <a:ext cx="2667000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Personas mayores ·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premio LiteRT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c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700" y="552450"/>
            <a:ext cx="190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75" b="0">
                <a:solidFill>
                  <a:srgbClr val="1E1E1E"/>
                </a:solidFill>
                <a:latin typeface="Roboto Mono Thin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76600" y="1428750"/>
            <a:ext cx="5143500" cy="19050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Manos</a:t>
            </a:r>
          </a:p>
          <a:p>
            <a:pPr algn="l">
              <a:lnSpc>
                <a:spcPct val="90000"/>
              </a:lnSpc>
            </a:pPr>
            <a:r>
              <a:rPr sz="4500" b="1">
                <a:solidFill>
                  <a:srgbClr val="1E1E1E"/>
                </a:solidFill>
                <a:latin typeface="Google Sans"/>
              </a:rPr>
              <a:t>a la obra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76600" y="3505200"/>
            <a:ext cx="3048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Elige tu pista: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huracán, satélite,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1E1E1E"/>
                </a:solidFill>
                <a:latin typeface="Roboto Mono Light"/>
              </a:rPr>
              <a:t>alerta o AlphaEarth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Pista D: tu plataforma satelital</a:t>
            </a:r>
          </a:p>
        </p:txBody>
      </p:sp>
      <p:pic>
        <p:nvPicPr>
          <p:cNvPr id="4" name="Picture 3" descr="plataforma_app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5" y="990600"/>
            <a:ext cx="5905500" cy="3321843"/>
          </a:xfrm>
          <a:prstGeom prst="roundRect">
            <a:avLst>
              <a:gd name="adj" fmla="val 5161"/>
            </a:avLst>
          </a:prstGeom>
          <a:ln w="19050">
            <a:solidFill>
              <a:srgbClr val="1E1E1E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524625" y="1047750"/>
            <a:ext cx="226695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Cambio 2017→2025 con AlphaEarth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× pendiente Copernicus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Clic para dar ejemplos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1575" b="0">
                <a:solidFill>
                  <a:srgbClr val="1E1E1E"/>
                </a:solidFill>
                <a:latin typeface="Google Sans"/>
              </a:rPr>
              <a:t>Enlace público con Gradio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25" y="4407693"/>
            <a:ext cx="590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5" b="0">
                <a:solidFill>
                  <a:srgbClr val="1E1E1E"/>
                </a:solidFill>
                <a:latin typeface="Roboto Mono Light"/>
              </a:rPr>
              <a:t>Plataforma del taller (Gradio en Colab) · Constanza, RD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Elige tu pista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3375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7CAF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 · Huracán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375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Weather Lab: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50 escenarios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375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Flood Hub: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ríos en alerta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375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3ECF6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Gemini: la alerta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0787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5CDB6D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 · Satélite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0787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Sentinel-1 y 2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con STAC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90787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Radar: agua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bajo las nubes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0787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CCF6C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AlphaEarth: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exposición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8200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7DAF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 · Alerta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48200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AI Studio,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sin código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48200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Formato CAP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y Gemma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8200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8D8D8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Build: tu 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05612" y="1066800"/>
            <a:ext cx="1947862" cy="400050"/>
          </a:xfrm>
          <a:prstGeom prst="roundRect">
            <a:avLst>
              <a:gd name="adj" fmla="val 50000"/>
            </a:avLst>
          </a:prstGeom>
          <a:solidFill>
            <a:srgbClr val="FFD427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D · AlphaEarth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05612" y="16954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Erosión en RD: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cambio y pendiente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05612" y="27241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Clasifica con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ejemplos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05612" y="3752850"/>
            <a:ext cx="1947862" cy="838200"/>
          </a:xfrm>
          <a:prstGeom prst="roundRect">
            <a:avLst>
              <a:gd name="adj" fmla="val 13636"/>
            </a:avLst>
          </a:prstGeom>
          <a:solidFill>
            <a:srgbClr val="FFE7A5"/>
          </a:solidFill>
          <a:ln w="19050">
            <a:solidFill>
              <a:srgbClr val="1E1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5250" rIns="95250" tIns="38100" bIns="38100"/>
          <a:lstStyle/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Tu plataforma</a:t>
            </a:r>
          </a:p>
          <a:p>
            <a:pPr algn="ctr"/>
            <a:r>
              <a:rPr sz="1425">
                <a:solidFill>
                  <a:srgbClr val="1E1E1E"/>
                </a:solidFill>
                <a:latin typeface="Google Sans Medium"/>
              </a:rPr>
              <a:t>(Gradio)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2425" y="285750"/>
            <a:ext cx="8382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0">
                <a:solidFill>
                  <a:srgbClr val="1E1E1E"/>
                </a:solidFill>
                <a:latin typeface="Google Sans"/>
              </a:rPr>
              <a:t>Escanea y elige tu pista</a:t>
            </a:r>
          </a:p>
        </p:txBody>
      </p:sp>
      <p:pic>
        <p:nvPicPr>
          <p:cNvPr id="4" name="Picture 3" descr="qr_por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00" y="1047750"/>
            <a:ext cx="2667000" cy="266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14500" y="3905250"/>
            <a:ext cx="571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"/>
              </a:rPr>
              <a:t>alcastaro.github.io/codigo-que-salva-vidas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tatement_ver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800" y="1047750"/>
            <a:ext cx="3810000" cy="304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475" b="1">
                <a:solidFill>
                  <a:srgbClr val="1E1E1E"/>
                </a:solidFill>
                <a:latin typeface="Google Sans"/>
              </a:rPr>
              <a:t>Próximamente en el GDG Santo Domingo:</a:t>
            </a:r>
            <a:r>
              <a:rPr sz="2475" b="0">
                <a:solidFill>
                  <a:srgbClr val="1E1E1E"/>
                </a:solidFill>
                <a:latin typeface="Google Sans"/>
              </a:rPr>
              <a:t> un taller de Climate Engine para analizar clima y satélite sin código.</a:t>
            </a:r>
          </a:p>
        </p:txBody>
      </p:sp>
      <p:pic>
        <p:nvPicPr>
          <p:cNvPr id="4" name="Picture 3" descr="qr_evento_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0" y="1524000"/>
            <a:ext cx="1905000" cy="1905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3505200"/>
            <a:ext cx="2857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1E1E1E"/>
                </a:solidFill>
                <a:latin typeface="Roboto Mono Light"/>
              </a:rPr>
              <a:t>gdg.community.dev/gdg-santo-domingo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781050"/>
            <a:ext cx="742950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1E1E"/>
                </a:solidFill>
                <a:latin typeface="Google Sans"/>
              </a:rPr>
              <a:t>Llévatelo 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333500"/>
            <a:ext cx="7429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75" b="0">
                <a:solidFill>
                  <a:srgbClr val="1E1E1E"/>
                </a:solidFill>
                <a:latin typeface="Roboto Mono Light"/>
              </a:rPr>
              <a:t>Gracias · Código que salva vidas · DevFest Santo Domingo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3550"/>
            <a:ext cx="72390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323850" indent="-323850">
              <a:lnSpc>
                <a:spcPct val="115000"/>
              </a:lnSpc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Notebooks y guía en el portal del QR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Datos abiertos, con su licencia citada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Alertas reales: tu servicio meteorológico</a:t>
            </a:r>
          </a:p>
          <a:p>
            <a:pPr algn="l" marL="323850" indent="-323850">
              <a:lnSpc>
                <a:spcPct val="115000"/>
              </a:lnSpc>
              <a:spcBef>
                <a:spcPts val="975"/>
              </a:spcBef>
              <a:buChar char="•"/>
            </a:pPr>
            <a:r>
              <a:rPr sz="2475" b="0">
                <a:solidFill>
                  <a:srgbClr val="1E1E1E"/>
                </a:solidFill>
                <a:latin typeface="Google Sans"/>
              </a:rPr>
              <a:t>¿Construyes algo? Cuéntaselo al GDG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