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9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02" r:id="rId43"/>
    <p:sldId id="301" r:id="rId4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59" d="100"/>
          <a:sy n="159" d="100"/>
        </p:scale>
        <p:origin x="8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68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12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13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16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17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18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19.gi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22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23.gi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24.gi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25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27.gif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u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9150" y="1866900"/>
            <a:ext cx="7239000" cy="18097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1E1E1E"/>
                </a:solidFill>
                <a:latin typeface="Google Sans"/>
              </a:rPr>
              <a:t>Código que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1E1E1E"/>
                </a:solidFill>
                <a:latin typeface="Google Sans"/>
              </a:rPr>
              <a:t>salva vidas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3848100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Alberto Castillo Aroca</a:t>
            </a:r>
          </a:p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Tech Lead en contextos de crisis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Escanea y elige tu pista</a:t>
            </a:r>
          </a:p>
        </p:txBody>
      </p:sp>
      <p:pic>
        <p:nvPicPr>
          <p:cNvPr id="4" name="Picture 3" descr="qr_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1047750"/>
            <a:ext cx="2667000" cy="266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4500" y="390525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github.com/alcastaro/codigo-que-salva-vidas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to_a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1050" y="781050"/>
            <a:ext cx="3238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Alberto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Castillo Aroca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857375"/>
            <a:ext cx="3333750" cy="2619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800" b="0">
                <a:solidFill>
                  <a:srgbClr val="1E1E1E"/>
                </a:solidFill>
                <a:latin typeface="Google Sans"/>
              </a:rPr>
              <a:t>Dominicano, colombiano y venezolano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800" b="0">
                <a:solidFill>
                  <a:srgbClr val="1E1E1E"/>
                </a:solidFill>
                <a:latin typeface="Google Sans"/>
              </a:rPr>
              <a:t>Economista, bioinformático y científico de datos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800" b="0">
                <a:solidFill>
                  <a:srgbClr val="1E1E1E"/>
                </a:solidFill>
                <a:latin typeface="Google Sans"/>
              </a:rPr>
              <a:t>Gestión de información en crisis humanitarias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800" b="0">
                <a:solidFill>
                  <a:srgbClr val="1E1E1E"/>
                </a:solidFill>
                <a:latin typeface="Google Sans"/>
              </a:rPr>
              <a:t>IA para emergencias, también sin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Colombia: migración, inundaciones y pandemia</a:t>
            </a:r>
          </a:p>
        </p:txBody>
      </p:sp>
      <p:pic>
        <p:nvPicPr>
          <p:cNvPr id="4" name="Picture 3" descr="mision_casanare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52500"/>
            <a:ext cx="1848172" cy="2464230"/>
          </a:xfrm>
          <a:prstGeom prst="rect">
            <a:avLst/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52425" y="3492930"/>
            <a:ext cx="184817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5" b="0">
                <a:solidFill>
                  <a:srgbClr val="1E1E1E"/>
                </a:solidFill>
                <a:latin typeface="Roboto Mono Light Light"/>
              </a:rPr>
              <a:t>Atención a migrantes venezolanos</a:t>
            </a:r>
          </a:p>
        </p:txBody>
      </p:sp>
      <p:pic>
        <p:nvPicPr>
          <p:cNvPr id="6" name="Picture 5" descr="mision_inundaciones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047" y="952500"/>
            <a:ext cx="4380854" cy="2464230"/>
          </a:xfrm>
          <a:prstGeom prst="rect">
            <a:avLst/>
          </a:prstGeom>
          <a:ln w="19050">
            <a:solidFill>
              <a:srgbClr val="1E1E1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372047" y="3492930"/>
            <a:ext cx="438085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5" b="0">
                <a:solidFill>
                  <a:srgbClr val="1E1E1E"/>
                </a:solidFill>
                <a:latin typeface="Roboto Mono Light Light"/>
              </a:rPr>
              <a:t>La Mojana · inundaciones en Colombia</a:t>
            </a:r>
          </a:p>
        </p:txBody>
      </p:sp>
      <p:pic>
        <p:nvPicPr>
          <p:cNvPr id="8" name="Picture 7" descr="mision_amazonia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352" y="952500"/>
            <a:ext cx="1848172" cy="2464230"/>
          </a:xfrm>
          <a:prstGeom prst="rect">
            <a:avLst/>
          </a:prstGeom>
          <a:ln w="19050">
            <a:solidFill>
              <a:srgbClr val="1E1E1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924352" y="3492930"/>
            <a:ext cx="184817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5" b="0">
                <a:solidFill>
                  <a:srgbClr val="1E1E1E"/>
                </a:solidFill>
                <a:latin typeface="Roboto Mono Light Light"/>
              </a:rPr>
              <a:t>Amazonía – Perú, Brasil y Colombia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7800" y="1706962"/>
            <a:ext cx="4000500" cy="17295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75" b="1" dirty="0">
                <a:solidFill>
                  <a:srgbClr val="1E1E1E"/>
                </a:solidFill>
                <a:latin typeface="Google Sans"/>
              </a:rPr>
              <a:t>En </a:t>
            </a:r>
            <a:r>
              <a:rPr sz="2475" b="1" dirty="0" err="1">
                <a:solidFill>
                  <a:srgbClr val="1E1E1E"/>
                </a:solidFill>
                <a:latin typeface="Google Sans"/>
              </a:rPr>
              <a:t>una</a:t>
            </a:r>
            <a:r>
              <a:rPr sz="2475" b="1" dirty="0">
                <a:solidFill>
                  <a:srgbClr val="1E1E1E"/>
                </a:solidFill>
                <a:latin typeface="Google Sans"/>
              </a:rPr>
              <a:t> crisis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no </a:t>
            </a:r>
            <a:r>
              <a:rPr lang="es-419" sz="2475" b="0" dirty="0">
                <a:solidFill>
                  <a:srgbClr val="1E1E1E"/>
                </a:solidFill>
                <a:latin typeface="Google Sans"/>
              </a:rPr>
              <a:t>solo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faltan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datos</a:t>
            </a:r>
            <a:r>
              <a:rPr lang="es-419" sz="2475" dirty="0">
                <a:solidFill>
                  <a:srgbClr val="1E1E1E"/>
                </a:solidFill>
                <a:latin typeface="Google Sans"/>
              </a:rPr>
              <a:t>, también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sobra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ruido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, y lo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que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se sabe no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llega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a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quien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lo </a:t>
            </a:r>
            <a:r>
              <a:rPr sz="2475" b="0" dirty="0" err="1">
                <a:solidFill>
                  <a:srgbClr val="1E1E1E"/>
                </a:solidFill>
                <a:latin typeface="Google Sans"/>
              </a:rPr>
              <a:t>necesita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781050"/>
            <a:ext cx="7429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¿Qué es la teledetección?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333500"/>
            <a:ext cx="7429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Remote sensing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3550"/>
            <a:ext cx="7239000" cy="247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Medir la Tierra sin tocarla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Pasiva: la luz del sol que rebota (óptico)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Activa: emite su señal y mide el eco (radar)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Resolución: píxel, revisita y bandas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ledete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Cómo funciona un satélite de observación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Reflectancia: cada superficie tiene su firma</a:t>
            </a:r>
          </a:p>
        </p:txBody>
      </p:sp>
      <p:pic>
        <p:nvPicPr>
          <p:cNvPr id="4" name="Picture 3" descr="firmas_espectr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715000" cy="3302000"/>
          </a:xfrm>
          <a:prstGeom prst="roundRect">
            <a:avLst>
              <a:gd name="adj" fmla="val 5192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334125" y="1047750"/>
            <a:ext cx="24574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Reflectancia: % de luz que rebota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Vegetación: absorbe rojo, refleja infrarrojo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Agua: casi nada en infrarrojo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Suelo: sube poco a poco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387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Curvas típicas aproximadas · figura propia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Los satélites abiertos más usados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Landsat (NASA/USGS)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Desde 1972: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50+ años de archivo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Óptico y térmico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30 m por píxel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Landsat 8 y 9: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cada 8 días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92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Sentinel-2 (ESA)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92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Óptico,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13 bandas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992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10 m en visible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 infrarrojo cercano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992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Cada ~5 días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64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Sentinel-1 (ESA)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64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Radar (SAR)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banda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64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~10 m, de día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y de noche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64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Atraviesa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las nubes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Así escanea la Tierra Sentinel-2</a:t>
            </a:r>
          </a:p>
        </p:txBody>
      </p:sp>
      <p:pic>
        <p:nvPicPr>
          <p:cNvPr id="4" name="Picture 3" descr="sentinel2_escaneo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334000" cy="3006436"/>
          </a:xfrm>
          <a:prstGeom prst="roundRect">
            <a:avLst>
              <a:gd name="adj" fmla="val 5702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953125" y="1047750"/>
            <a:ext cx="28384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Órbita polar, de polo a polo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Franjas de 290 km de ancho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La Tierra gira debajo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Toda la Tierra en ~5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092286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Animación: ESA · vía Airbus (airbus.com, ago-2024) · acelerada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Bandas: cada una mide un tipo de luz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Azul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~490 nm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Agua, costas,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bruma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1356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9931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Verde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931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~560 nm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Vegetación,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agua turbia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997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5572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Rojo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572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~665 nm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La clorofila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la absorbe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638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1213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IR cercano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213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~840 nm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Las plantas sanas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lo reflejan mucho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279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854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IR onda corta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854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1.600–2.200 nm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Humedad, suelos,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quemas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425" y="3905250"/>
            <a:ext cx="8382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Una foto normal usa solo rojo, verde y azul. Los satélites miden además el infrarrojo (IR), que no vemos: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cada superficie tiene su «firma espectral».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Índices: operaciones entre bandas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NDVI · vegetación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(NIR − Rojo)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÷ (NIR + Rojo)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&gt; 0,5: vegetación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sana y densa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Cultivos, sequía,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daño de huracán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0787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NDWI · agua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0787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(Verde − NIR)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÷ (Verde + NIR)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0787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&gt; 0: agua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0787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Inundaciones,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embalses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8200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NBR · incendios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8200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(NIR − SWIR2)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÷ (NIR + SWIR2)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Antes − después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= severidad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200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Áreas quemadas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5612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NDBI · construido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5612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(SWIR1 − NIR)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÷ (SWIR1 + NIR)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5612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&gt; 0: suelo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construido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5612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Crecimiento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urbano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crisisresilience.google</a:t>
            </a:r>
          </a:p>
        </p:txBody>
      </p:sp>
      <p:pic>
        <p:nvPicPr>
          <p:cNvPr id="4" name="Picture 3" descr="crisi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Incendios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Inundaciones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Sismos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Ciclones y clima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Alertas en 90+ países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crisisresilience.google · captura oct-2026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Google Crisis Resilience: el mapa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Sismos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Android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Earthquake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Red de acelerómetros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 teléfonos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Alertas en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98 países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0787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Inundaciones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0787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Flood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0787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Flood Forecasting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0787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150+ países,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ríos sin estaciones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8200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Ciclones y clima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8200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WeatherNext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 Lab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(ciclones)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200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Hasta 15 días,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probabilístico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5612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Incendios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5612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Límites de incendio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 Search y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5612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FireSat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(constelación)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5612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Detección de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5×5 m en 20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Las capas que lo sostienen todo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Observar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AlphaEarth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Earth Engine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y Google Earth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Sentinel / Landsat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(datos abiertos)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0787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Predecir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0787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Modelos LSTM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(Flood Hub)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0787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WeatherNext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0787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Earth AI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(Gemini)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8200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Avisar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8200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SOS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Public Alerts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(estándar CAP)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200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Android, Search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y Maps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5612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Construir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5612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Gemini API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(AI Studio)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5612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(modelos abiertos)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5612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Colab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 Thi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Telemetría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distribuida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Millones de teléfonos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funcionando como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sismógrafos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Android Earthquake Alerts: cómo funciona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El acelerómetro siente la sacudida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1356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9931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Teléfono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931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Un algoritmo local decide si es sismo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997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5572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Señal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572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Envía solo hora y zona aproximada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638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1213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Servidor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213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Une miles de señales: epicentro y magnitud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279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854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Alerta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854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Llega antes que la onda que más daña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425" y="3905250"/>
            <a:ext cx="8382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Funciona porque las ondas viajan a unos km/s y los datos a la velocidad de la luz.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Fuente: Allen et al., Science (julio 2025).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um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" y="32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recibió la alerta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3962400" cy="2476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25" b="0">
                <a:solidFill>
                  <a:srgbClr val="1E1E1E"/>
                </a:solidFill>
                <a:latin typeface="Google Sans Medium"/>
              </a:rPr>
              <a:t>36 %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413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antes de sentir la sacudida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 Thin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Modelado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predictivo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Del satélite y la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lluvia, al río y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al huracán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Flood Hub: ríos que avisan</a:t>
            </a:r>
          </a:p>
        </p:txBody>
      </p:sp>
      <p:pic>
        <p:nvPicPr>
          <p:cNvPr id="4" name="Picture 3" descr="floodhu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Dos redes LSTM: pasado y pronóstico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Ríos sin estaciones de medición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Hasta 7 días antes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API con lista de espera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sites.research.google/floods · captura oct-2026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um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" y="32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Flood Hub pronostica 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3962400" cy="2476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25" b="0">
                <a:solidFill>
                  <a:srgbClr val="1E1E1E"/>
                </a:solidFill>
                <a:latin typeface="Google Sans Medium"/>
              </a:rPr>
              <a:t>150+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413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países con pronóstico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 dirty="0" err="1">
                <a:solidFill>
                  <a:srgbClr val="1E1E1E"/>
                </a:solidFill>
                <a:latin typeface="Google Sans"/>
              </a:rPr>
              <a:t>WeatherNext</a:t>
            </a:r>
            <a:r>
              <a:rPr sz="2475" b="0" dirty="0">
                <a:solidFill>
                  <a:srgbClr val="1E1E1E"/>
                </a:solidFill>
                <a:latin typeface="Google Sans"/>
              </a:rPr>
              <a:t> </a:t>
            </a:r>
            <a:r>
              <a:rPr lang="es-419" sz="2475" b="0" dirty="0">
                <a:solidFill>
                  <a:srgbClr val="1E1E1E"/>
                </a:solidFill>
                <a:latin typeface="Google Sans"/>
              </a:rPr>
              <a:t>3</a:t>
            </a:r>
            <a:endParaRPr sz="2475" b="0" dirty="0">
              <a:solidFill>
                <a:srgbClr val="1E1E1E"/>
              </a:solidFill>
              <a:latin typeface="Google Sans"/>
            </a:endParaRPr>
          </a:p>
        </p:txBody>
      </p:sp>
      <p:pic>
        <p:nvPicPr>
          <p:cNvPr id="4" name="Picture 3" descr="weathernex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2821516"/>
          </a:xfrm>
          <a:prstGeom prst="roundRect">
            <a:avLst>
              <a:gd name="adj" fmla="val 6076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8× más rápido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Mejor en 99,9 % de variables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Hasta 15 días, por hora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En Earth Engine, BigQuery y Vertex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3907366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deepmind.google/science/weathernext · captura oct-2026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Melissa: 50 futuros posibles</a:t>
            </a:r>
          </a:p>
        </p:txBody>
      </p:sp>
      <p:pic>
        <p:nvPicPr>
          <p:cNvPr id="4" name="Picture 3" descr="melissa_animado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690937"/>
          </a:xfrm>
          <a:prstGeom prst="roundRect">
            <a:avLst>
              <a:gd name="adj" fmla="val 4645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Weather Lab, emitido el 25-oct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Azul: escenarios del modelo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Rojo: lo que pasó (NHC)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Esto lo haces en la Pista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776787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Weather Lab (CC BY 4.0) · NOAA/NHC · Natural Earth · animación propia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um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" y="32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Cinco días antes: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3962400" cy="2476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25" b="0">
                <a:solidFill>
                  <a:srgbClr val="1E1E1E"/>
                </a:solidFill>
                <a:latin typeface="Google Sans Medium"/>
              </a:rPr>
              <a:t>80 %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413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de confianza en categoría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Sentinel-1: el radar ve bajo las nubes</a:t>
            </a:r>
          </a:p>
        </p:txBody>
      </p:sp>
      <p:pic>
        <p:nvPicPr>
          <p:cNvPr id="4" name="Picture 3" descr="radar_parpadeo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3714750" cy="3714750"/>
          </a:xfrm>
          <a:prstGeom prst="roundRect">
            <a:avLst>
              <a:gd name="adj" fmla="val 4615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333875" y="1047750"/>
            <a:ext cx="445770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Atraviesa nubes, de día y de noche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Agua quieta = oscuro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Antes 17-oct · después 29-oct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Datos abiertos (Copernicus)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800600"/>
            <a:ext cx="3714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Copernicus Sentinel-1 (ESA) · Microsoft Planetary Computer · animación propia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NASA FIRMS: incendios activos, casi en vivo</a:t>
            </a:r>
          </a:p>
        </p:txBody>
      </p:sp>
      <p:pic>
        <p:nvPicPr>
          <p:cNvPr id="4" name="Picture 3" descr="fi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Todo el planeta, cada pocas horas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Satélites VIIRS (375 m) y MODIS (1 km)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Mapa, alertas por correo y API gratis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Ojo: puntos de calor, no confirmaciones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firms.modaps.eosdis.nasa.gov · NASA LANCE · última semana, captura 10-oct-2026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to_alphaea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1050" y="781050"/>
            <a:ext cx="3238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AlphaEarth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905000"/>
            <a:ext cx="3333750" cy="2571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64 números por píxel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Busca sin entrenar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Anual, 2017–2025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Abierto y gratuito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2975" y="4838700"/>
            <a:ext cx="400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>
                <a:solidFill>
                  <a:srgbClr val="1E1E1E"/>
                </a:solidFill>
                <a:latin typeface="Roboto Mono Light Light"/>
              </a:rPr>
              <a:t>AlphaEarth Foundations (CC BY 4.0) · Source Cooperative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AlphaEarth: Constanza, 2017 → 2025</a:t>
            </a:r>
          </a:p>
        </p:txBody>
      </p:sp>
      <p:pic>
        <p:nvPicPr>
          <p:cNvPr id="4" name="Picture 3" descr="alphaearth_constanza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070860"/>
          </a:xfrm>
          <a:prstGeom prst="roundRect">
            <a:avLst>
              <a:gd name="adj" fmla="val 5583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Un color por tipo de terreno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Derecha: cuánto cambió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Cultivos en laderas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Esto lo haces en la Pista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15671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AlphaEarth Foundations (CC BY 4.0) vía Source Cooperative · animación propia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Earth Engine: 40 años de Santo Domingo</a:t>
            </a:r>
          </a:p>
        </p:txBody>
      </p:sp>
      <p:pic>
        <p:nvPicPr>
          <p:cNvPr id="4" name="Picture 3" descr="timelapse_sdq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827058" cy="3714750"/>
          </a:xfrm>
          <a:prstGeom prst="roundRect">
            <a:avLst>
              <a:gd name="adj" fmla="val 4615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46183" y="1047750"/>
            <a:ext cx="2345391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Petabytes de satélite y clima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Análisis en la nube, en minutos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Gratis para uso no comercial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Base de Timelapse y Climate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800600"/>
            <a:ext cx="582705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earthengine.google.com/timelapse · captura oct-2026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Novedades de Google Earth</a:t>
            </a:r>
          </a:p>
        </p:txBody>
      </p:sp>
      <p:pic>
        <p:nvPicPr>
          <p:cNvPr id="4" name="Picture 3" descr="googleearth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083983"/>
          </a:xfrm>
          <a:prstGeom prst="roundRect">
            <a:avLst>
              <a:gd name="adj" fmla="val 5559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Earth AI: imagen, población y entorno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Gemini razona sobre el mapa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Classify: cultivos con AlphaEarth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Pro y AI Pro, primero en EE. UU.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169833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earth.google.com · captura oct-2026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Amazon Mining Watch</a:t>
            </a:r>
          </a:p>
        </p:txBody>
      </p:sp>
      <p:pic>
        <p:nvPicPr>
          <p:cNvPr id="4" name="Picture 3" descr="am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Minería de oro en 9 países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Redes neuronales sobre Sentinel-2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99 % especificidad, 90 % sensibilidad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Datos abiertos, cada trimestre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amazonminingwatch.org (Earth Genome y aliados) · captura oct-2026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Climate Engine</a:t>
            </a:r>
          </a:p>
        </p:txBody>
      </p:sp>
      <p:pic>
        <p:nvPicPr>
          <p:cNvPr id="4" name="Picture 3" descr="climate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Clima y satélite sin código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Corre sobre Earth Engine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Sequía, incendios y cultivos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Web, API e informes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climateengine.org · captura oct-2026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 Thin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Despliegue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a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Cuando la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infraestructura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física colapsa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781050"/>
            <a:ext cx="7429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La última milla: la alerta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28750"/>
            <a:ext cx="7239000" cy="247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SOS Alerts en Search y Maps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Alertas oficiales con estándar CAP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Límites de incendio cada 10–15 min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Si no se entiende en 3 s, no sirve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La comunidad también construye: Gemma 4 Good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Acuífero·Vigía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Alerta de inundación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sin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 4 E2B en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Raspberry Pi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Sudamérica ·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Global Resilience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92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PreVillage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92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Servicios públicos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por 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992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 4 E4B en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Raspberry Pi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992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Nepal ·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premio llama.cpp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64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Gilbeot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64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Navegación con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puntos de referencia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64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 4 E2B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 Android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64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Personas mayores ·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premio LiteRT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 Thin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Manos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a la obra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Elige tu pista: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huracán, satélite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 Light"/>
              </a:rPr>
              <a:t>o AlphaEarth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Pista C: tu plataforma satelital</a:t>
            </a:r>
          </a:p>
        </p:txBody>
      </p:sp>
      <p:pic>
        <p:nvPicPr>
          <p:cNvPr id="4" name="Picture 3" descr="plataforma_app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Cambio 2017→2025 con AlphaEarth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× pendiente Copernicus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Clic para dar ejemplos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Enlace público con Gradio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 Light"/>
              </a:rPr>
              <a:t>Plataforma del taller (Gradio en Colab) · Constanza, RD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Elige tu pista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 · Huracán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 Lab: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50 escenarios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Probabilidad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de que te toque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Gemini: la alerta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92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B · Satélite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92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Sentinel-1 y 2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con STAC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992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Radar: agua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bajo las nubes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992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AlphaEarth: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exposición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64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 · AlphaEarth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64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Erosión en RD: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cambio y pendiente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64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Clasifica con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ejemplos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64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Tu plataforma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(Gradio)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Escanea y elige tu pista</a:t>
            </a:r>
          </a:p>
        </p:txBody>
      </p:sp>
      <p:pic>
        <p:nvPicPr>
          <p:cNvPr id="4" name="Picture 3" descr="qr_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1047750"/>
            <a:ext cx="2667000" cy="266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4500" y="3905250"/>
            <a:ext cx="571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github.com/alcastaro/codigo-que-salva-vidas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ement_ver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7800" y="1047750"/>
            <a:ext cx="3810000" cy="30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75" b="1">
                <a:solidFill>
                  <a:srgbClr val="1E1E1E"/>
                </a:solidFill>
                <a:latin typeface="Google Sans"/>
              </a:rPr>
              <a:t>Próximamente en el GDG Santo Domingo:</a:t>
            </a:r>
            <a:r>
              <a:rPr sz="2475" b="0">
                <a:solidFill>
                  <a:srgbClr val="1E1E1E"/>
                </a:solidFill>
                <a:latin typeface="Google Sans"/>
              </a:rPr>
              <a:t> un taller de Climate Engine para analizar clima y satélite sin código.</a:t>
            </a:r>
          </a:p>
        </p:txBody>
      </p:sp>
      <p:pic>
        <p:nvPicPr>
          <p:cNvPr id="4" name="Picture 3" descr="qr_evento_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524000"/>
            <a:ext cx="1905000" cy="190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3505200"/>
            <a:ext cx="285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1E1E"/>
                </a:solidFill>
                <a:latin typeface="Roboto Mono Light Light"/>
              </a:rPr>
              <a:t>gdg.community.dev/gdg-santo-domingo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781050"/>
            <a:ext cx="7429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Llévatelo 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28750"/>
            <a:ext cx="7239000" cy="2476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3850" indent="-323850" algn="l">
              <a:lnSpc>
                <a:spcPct val="115000"/>
              </a:lnSpc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Notebooks y datos en el repo del QR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Datos abiertos, con su licencia citada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Alertas reales: tu servicio meteorológico</a:t>
            </a:r>
          </a:p>
          <a:p>
            <a:pPr marL="323850" indent="-323850" algn="l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¿Construyes algo? Cuéntaselo al GDG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Encuéntrame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62125" y="990600"/>
            <a:ext cx="2381250" cy="41910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575">
                <a:solidFill>
                  <a:srgbClr val="1E1E1E"/>
                </a:solidFill>
                <a:latin typeface="Google Sans Medium"/>
              </a:rPr>
              <a:t>LinkedIn</a:t>
            </a:r>
          </a:p>
        </p:txBody>
      </p:sp>
      <p:pic>
        <p:nvPicPr>
          <p:cNvPr id="5" name="Picture 4" descr="qr_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125" y="1581150"/>
            <a:ext cx="2381250" cy="2381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1125" y="4076700"/>
            <a:ext cx="3143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" b="0">
                <a:solidFill>
                  <a:srgbClr val="1E1E1E"/>
                </a:solidFill>
                <a:latin typeface="Roboto Mono Light Light"/>
              </a:rPr>
              <a:t>linkedin.com/in/alcastaro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625" y="990600"/>
            <a:ext cx="2381250" cy="41910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250" tIns="38100" rIns="95250" bIns="38100" rtlCol="0" anchor="ctr"/>
          <a:lstStyle/>
          <a:p>
            <a:pPr algn="ctr"/>
            <a:r>
              <a:rPr sz="1575">
                <a:solidFill>
                  <a:srgbClr val="1E1E1E"/>
                </a:solidFill>
                <a:latin typeface="Google Sans Medium"/>
              </a:rPr>
              <a:t>Instagram</a:t>
            </a:r>
          </a:p>
        </p:txBody>
      </p:sp>
      <p:pic>
        <p:nvPicPr>
          <p:cNvPr id="8" name="Picture 7" descr="qr_inst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581150"/>
            <a:ext cx="2381250" cy="2381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9625" y="4076700"/>
            <a:ext cx="3143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" b="0">
                <a:solidFill>
                  <a:srgbClr val="1E1E1E"/>
                </a:solidFill>
                <a:latin typeface="Roboto Mono Light Light"/>
              </a:rPr>
              <a:t>@alcastaro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u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9150" y="1866900"/>
            <a:ext cx="7239000" cy="18097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1E1E1E"/>
                </a:solidFill>
                <a:latin typeface="Google Sans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3848100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Alberto Castillo Aroca</a:t>
            </a:r>
          </a:p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 Light"/>
              </a:rPr>
              <a:t>github.com/alcastaro/codigo-que-salva-vidas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2998</TotalTime>
  <Words>3615</Words>
  <Application>Microsoft Macintosh PowerPoint</Application>
  <PresentationFormat>On-screen Show (16:9)</PresentationFormat>
  <Paragraphs>394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Google Sans</vt:lpstr>
      <vt:lpstr>Google Sans Medium</vt:lpstr>
      <vt:lpstr>Roboto Mono Light Light</vt:lpstr>
      <vt:lpstr>Roboto Mono Thin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Alberto Castillo Aroca</cp:lastModifiedBy>
  <cp:revision>3</cp:revision>
  <dcterms:created xsi:type="dcterms:W3CDTF">2013-01-27T09:14:16Z</dcterms:created>
  <dcterms:modified xsi:type="dcterms:W3CDTF">2026-10-28T19:14:30Z</dcterms:modified>
  <cp:category/>
</cp:coreProperties>
</file>